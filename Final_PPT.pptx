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73" r:id="rId20"/>
    <p:sldId id="277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9FEBF4C-0C08-125C-7440-BA2791B4BF62}">
          <p14:sldIdLst>
            <p14:sldId id="256"/>
          </p14:sldIdLst>
        </p14:section>
        <p14:section name="Introduction" id="{15C140DD-FB7A-4B9F-17F7-A803D7937AD4}">
          <p14:sldIdLst>
            <p14:sldId id="257"/>
            <p14:sldId id="258"/>
          </p14:sldIdLst>
        </p14:section>
        <p14:section name="Literature review" id="{ABAD5549-F278-485F-5757-E05F40AB14E2}">
          <p14:sldIdLst>
            <p14:sldId id="259"/>
            <p14:sldId id="260"/>
            <p14:sldId id="261"/>
          </p14:sldIdLst>
        </p14:section>
        <p14:section name="Objectives" id="{A4FE7FFF-172E-184F-7671-AE22F696E32C}">
          <p14:sldIdLst>
            <p14:sldId id="262"/>
          </p14:sldIdLst>
        </p14:section>
        <p14:section name="Methodology" id="{1F512DCE-F66F-9D72-9DA8-EFBB77B627F7}">
          <p14:sldIdLst>
            <p14:sldId id="263"/>
            <p14:sldId id="264"/>
            <p14:sldId id="265"/>
          </p14:sldIdLst>
        </p14:section>
        <p14:section name="Results" id="{49ED83E7-3377-AA28-23CE-86AA5081A724}">
          <p14:sldIdLst>
            <p14:sldId id="266"/>
            <p14:sldId id="267"/>
            <p14:sldId id="268"/>
            <p14:sldId id="278"/>
            <p14:sldId id="269"/>
            <p14:sldId id="270"/>
          </p14:sldIdLst>
        </p14:section>
        <p14:section name="Planned work" id="{16D925F9-A601-4FA6-A3EF-02BF1018D1E3}">
          <p14:sldIdLst>
            <p14:sldId id="271"/>
            <p14:sldId id="272"/>
          </p14:sldIdLst>
        </p14:section>
        <p14:section name="References" id="{5854FD1F-DC80-CE53-F3E7-70586742401E}">
          <p14:sldIdLst>
            <p14:sldId id="273"/>
            <p14:sldId id="277"/>
          </p14:sldIdLst>
        </p14:section>
        <p14:section name="Close" id="{B58841E9-5E77-3405-5A6E-E7BBE3414E9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333333"/>
                </a:solidFill>
                <a:latin typeface="+mn-lt"/>
              </a:rPr>
              <a:t>Buses needed at 22 km/h vs 389 allocated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Buses needed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S1: full cycle</c:v>
                </c:pt>
                <c:pt idx="1">
                  <c:v>S2: one-way</c:v>
                </c:pt>
                <c:pt idx="2">
                  <c:v>S2 + 10% layover</c:v>
                </c:pt>
                <c:pt idx="3">
                  <c:v>S3: + 10% spares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171.9</c:v>
                </c:pt>
                <c:pt idx="1">
                  <c:v>309.89999999999998</c:v>
                </c:pt>
                <c:pt idx="2">
                  <c:v>340.9</c:v>
                </c:pt>
                <c:pt idx="3">
                  <c:v>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7-4965-9E0E-E504D94222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92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allocating CTU's existing bus fleet across routes and time periods when demand is uncertain.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the same fleet is over-stretched on some corridors and under-used on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source: the CTU timetable as on 25.07.2026. Ridership is not public, so demand in this study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of the field: Ibarra-Rojas et al. (2015) and Ceder &amp; Wilson (1986) place frequency setting between network design and timetabling.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Stochastic alternatives exist (An &amp; Lo 2016; Gkiotsalitis et al. 2022). We use fuzzy numbers because no data exist to fit probability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statement is limited to what our search found; we do not claim no such study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Sizes: 191 active route-periods, 651 variables, 576 constraints. Menu 10, 12, 15, 20, 25, 30, 40, 45, 60, 90 min plus each route's published headways.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Implied speed that exactly fills the fleet: 19.3 km/h without spares, 21.2 km/h with 10% spares.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NSGA-II's higher hypervolume comes from its denser point set filling gaps between grid samples; it strictly dominates no exact point. Mean GD 0.049, IGD 0.032. P-PASSENGER lies exactly on the front; P-BALANCED is 0.068 away because it trades a little overflow for full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2,000 simulated demand days, identical for every schedule. Waiting differences between optimised schedules are a few seconds and should not be used to rank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9C7D-C8D6-A1F6-62CB-48F1EED2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6AA25-8218-81A3-B6E1-DD34D7A7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4D422-ED71-669B-1BB9-438B888EE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F5EDD-EBCC-94C3-2ABF-B3A99B0A4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89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81888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Bus Fleet Allocation under Demand Variability  |  Dept. of Mathematics, PEC Chandigarh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foi.tfl.gov.uk/FOI-2321-1617/bus-service-planning-guidelines.pdf?utm_source=chatgpt.c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C:\Users\armaa\AppData\Local\Temp\claude\c--Users-armaa-OneDrive-Desktop-Minors\1a0d6295-4fa4-4496-9288-986506e21868\scratchpad\old_media\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26" y="429768"/>
            <a:ext cx="1008348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83080" y="457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MINOR PROJECT  ·  B.TECH MATHEMATICS AND COMPUTING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7498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DD"/>
                </a:solidFill>
              </a:rPr>
              <a:t>Punjab Engineering College (Deemed to be University), Chandigarh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Optimization-Based Resource Allocation for Public Bus Fleet Scheduling under Demand Variability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529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Case study: Chandigarh Transport Undertaking (CTU)  ·  Final presentation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86600" y="1417320"/>
            <a:ext cx="1417320" cy="1417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:\Users\armaa\AppData\Local\Temp\claude\c--Users-armaa-OneDrive-Desktop-Minors\1a0d6295-4fa4-4496-9288-986506e21868\scratchpad\old_media\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7373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520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1C2"/>
                </a:solidFill>
              </a:rPr>
              <a:t>UNDER THE GUIDANCE OF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767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Sumati Mahajan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Department of Mathematics, PEC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520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1C2"/>
                </a:solidFill>
              </a:rPr>
              <a:t>SUBMITTED BY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Daksh Garg (24112005)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Piyush Aggarwal (24112006)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3767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Abhay Chauhan (24112015)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Naman Vasudev (24112032)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supply rarely matches passenger demand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Fixed-route buses are the most accessible public transport mode for Indian commuters.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transport undertaking must spread a finite fleet over many routes whose demand changes by place and time of day.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When departures do not follow demand, the network fails in two directions at once.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4800600" y="1280160"/>
            <a:ext cx="3886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ard"/>
          <p:cNvSpPr/>
          <p:nvPr/>
        </p:nvSpPr>
        <p:spPr>
          <a:xfrm>
            <a:off x="4800600" y="2651760"/>
            <a:ext cx="3886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adge !"/>
          <p:cNvSpPr txBox="1"/>
          <p:nvPr/>
        </p:nvSpPr>
        <p:spPr>
          <a:xfrm>
            <a:off x="498348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325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High-demand corridors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</a:rPr>
              <a:t>Overcrowding and long waits; passengers left behind by full buses</a:t>
            </a:r>
            <a:endParaRPr lang="en-US" sz="1500" dirty="0"/>
          </a:p>
        </p:txBody>
      </p:sp>
      <p:sp>
        <p:nvSpPr>
          <p:cNvPr id="9" name="badge ↓"/>
          <p:cNvSpPr txBox="1"/>
          <p:nvPr/>
        </p:nvSpPr>
        <p:spPr>
          <a:xfrm>
            <a:off x="4983480" y="28346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Low-demand corridors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</a:rPr>
              <a:t>Spare capacity and near-empty runs that still cost fuel and driver hours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INTRODUCTION  ·  CASE STUDY AND PROBLEM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CTU: a fixed fleet, 68 routes, no public ridership data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61872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92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routes (Depots II, III, IV)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560320" y="1261872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65176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892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buses allocated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663440" y="1261872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1,662 km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892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total route length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766560" y="1261872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892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named stops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Given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98648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 fixed fleet (389 buses)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Routes with published headway ranges and lengths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Three periods: AM 07-10, Midday 10-16, PM 16-19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64408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64408" y="2898648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 headway for every route and period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number of buses each route needs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071616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 that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71616" y="2898648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Waiting and overcrowding fall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Vehicle-km stays within budget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route waits beyond the equity cap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Fleet and cycle-time limits hold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LITERATURE REVIEW  ·  TRANSIT PLANNING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setting is a fleet-constrained planning step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43584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Ceder (2016) [1]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Planning chain from network design to frequencies, timetables and crews.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frames our stage: frequencies and buses for fixed routes.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4663440" y="1243584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828032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Furth &amp; Wilson (1981) [3]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64208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Allocates buses across routes and periods under fleet and loading limits.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the same structure as our fleet and capacity constraints.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457200" y="2907792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21792" y="29992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Martínez et al. (2014) [5]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328416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MILP for frequency setting with a discrete set of frequencies.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justifies our headway menu with binary choices.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663440" y="2907792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828032" y="29992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Verbas &amp; Mahmassani (2015) [6]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328416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Frequency allocation over routes and time periods with explicit trade-offs.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supports period-wise allocation and trade-off analysis.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LITERATURE REVIEW  ·  METHODS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and uncertainty methods we build on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43584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Deb et al. (2002): NSGA-II [7]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64208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Elitist GA with non-dominated sorting and crowding distance.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heuristic Pareto front, benchmarked against an exact one.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4663440" y="1243584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828032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Mavrotas (2009, 2013): AUGMECON [8, 9]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64208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Augmented ε-constraint: only strictly efficient points; exact for integer programs.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our exact Pareto front.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457200" y="2907792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21792" y="29992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Zimmermann; Inuiguchi &amp; Ramík [13, 14]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328416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Fuzzy multi-objective LP (1978); possibilistic programming via α-level cuts (2000).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triangular fuzzy demand with an α-cut capacity rule.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663440" y="2907792"/>
            <a:ext cx="402336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828032" y="29992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Charnes &amp; Cooper; Jones &amp; Tamiz [10, 11]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328416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</a:rPr>
              <a:t>Goal programming (1961): targets, deviations; preemptive vs weighted forms (2010).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Use here: </a:t>
            </a:r>
            <a:r>
              <a:rPr lang="en-US" sz="1150" dirty="0">
                <a:solidFill>
                  <a:srgbClr val="333333"/>
                </a:solidFill>
              </a:rPr>
              <a:t>priority scenarios for passengers, operator and equity.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LITERATURE REVIEW  ·  STANDARDS AND GAP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Standards, Indian evidence and the gap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43584"/>
            <a:ext cx="411480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ard"/>
          <p:cNvSpPr/>
          <p:nvPr/>
        </p:nvSpPr>
        <p:spPr>
          <a:xfrm>
            <a:off x="457200" y="2907792"/>
            <a:ext cx="4114800" cy="1517904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21792" y="1335024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Reliability standard: Excess Wait Time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TfL plans bus services against published guidelines [21]; Singapore's reliability framework rewards operators on Excess Wait Time [20]. We report EWT = (h/2)·CV².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9923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Indian bus speeds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GPS studies: Chennai buses average 17.8 km/h (peak) and 21.5 km/h (off-peak) [22]; speeds vary strongly across Ahmedabad [23]. This sets our 18-26 km/h test range.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754880" y="1243584"/>
            <a:ext cx="3931920" cy="3182112"/>
          </a:xfrm>
          <a:prstGeom prst="roundRect">
            <a:avLst>
              <a:gd name="adj" fmla="val 22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937760" y="13533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Our verified search (2014-2026) found no study applying goal programming to bus frequency or fleet allocation.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CTU publishes no ridership, so the method must work with fuzzy, synthetic demand and be ready for real data.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The synopsis model had four mathematical errors that had to be corrected first.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F7D7C1-A6BE-DE5E-42CB-85C9847E4735}"/>
              </a:ext>
            </a:extLst>
          </p:cNvPr>
          <p:cNvGrpSpPr/>
          <p:nvPr/>
        </p:nvGrpSpPr>
        <p:grpSpPr>
          <a:xfrm>
            <a:off x="334736" y="1314776"/>
            <a:ext cx="5596618" cy="3028623"/>
            <a:chOff x="457200" y="1243584"/>
            <a:chExt cx="5376672" cy="2103120"/>
          </a:xfrm>
        </p:grpSpPr>
        <p:sp>
          <p:nvSpPr>
            <p:cNvPr id="4" name="badge 1"/>
            <p:cNvSpPr txBox="1"/>
            <p:nvPr/>
          </p:nvSpPr>
          <p:spPr>
            <a:xfrm>
              <a:off x="457200" y="1280160"/>
              <a:ext cx="365760" cy="3657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tx2"/>
                  </a:solidFill>
                </a:rPr>
                <a:t>1</a:t>
              </a:r>
              <a:endParaRPr lang="en-US" sz="1200" dirty="0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987552" y="1243584"/>
              <a:ext cx="4846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Build a validated CTU baseline from the published timetable: routes, headways, buses, stops.</a:t>
              </a:r>
              <a:endParaRPr lang="en-US" sz="1300" dirty="0"/>
            </a:p>
          </p:txBody>
        </p:sp>
        <p:sp>
          <p:nvSpPr>
            <p:cNvPr id="6" name="badge 2"/>
            <p:cNvSpPr txBox="1"/>
            <p:nvPr/>
          </p:nvSpPr>
          <p:spPr>
            <a:xfrm>
              <a:off x="457200" y="1828800"/>
              <a:ext cx="365760" cy="3657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tx2"/>
                  </a:solidFill>
                </a:rPr>
                <a:t>2</a:t>
              </a:r>
              <a:endParaRPr lang="en-US" sz="12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987552" y="1792224"/>
              <a:ext cx="4846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Formulate a corrected, linear multi-objective MILP for headways and bus allocation.</a:t>
              </a:r>
              <a:endParaRPr lang="en-US" sz="1300" dirty="0"/>
            </a:p>
          </p:txBody>
        </p:sp>
        <p:sp>
          <p:nvSpPr>
            <p:cNvPr id="8" name="badge 3"/>
            <p:cNvSpPr txBox="1"/>
            <p:nvPr/>
          </p:nvSpPr>
          <p:spPr>
            <a:xfrm>
              <a:off x="457200" y="2377440"/>
              <a:ext cx="365760" cy="3657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tx2"/>
                  </a:solidFill>
                </a:rPr>
                <a:t>3</a:t>
              </a:r>
              <a:endParaRPr lang="en-US" sz="12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987552" y="2340864"/>
              <a:ext cx="4846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Represent uncertain demand with triangular fuzzy numbers and an α-cut capacity rule.</a:t>
              </a:r>
              <a:endParaRPr lang="en-US" sz="1300" dirty="0"/>
            </a:p>
          </p:txBody>
        </p:sp>
        <p:sp>
          <p:nvSpPr>
            <p:cNvPr id="10" name="badge 4"/>
            <p:cNvSpPr txBox="1"/>
            <p:nvPr/>
          </p:nvSpPr>
          <p:spPr>
            <a:xfrm>
              <a:off x="457200" y="2926080"/>
              <a:ext cx="365760" cy="3657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tx2"/>
                  </a:solidFill>
                </a:rPr>
                <a:t>4</a:t>
              </a:r>
              <a:endParaRPr lang="en-US" sz="12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987552" y="2889504"/>
              <a:ext cx="4846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Balance waiting, operating effort, crowding and equity with goal programming; cross-check on an exact Pareto front (AUGMECON 20×20 grid).</a:t>
              </a:r>
              <a:endParaRPr lang="en-US" sz="13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54FBAD-E2C4-23EC-5295-76F01A139345}"/>
              </a:ext>
            </a:extLst>
          </p:cNvPr>
          <p:cNvGrpSpPr/>
          <p:nvPr/>
        </p:nvGrpSpPr>
        <p:grpSpPr>
          <a:xfrm>
            <a:off x="6355080" y="1943100"/>
            <a:ext cx="2514600" cy="1600200"/>
            <a:chOff x="6172200" y="1243584"/>
            <a:chExt cx="2514600" cy="1600200"/>
          </a:xfrm>
        </p:grpSpPr>
        <p:sp>
          <p:nvSpPr>
            <p:cNvPr id="14" name="card"/>
            <p:cNvSpPr/>
            <p:nvPr/>
          </p:nvSpPr>
          <p:spPr>
            <a:xfrm>
              <a:off x="6172200" y="1243584"/>
              <a:ext cx="2514600" cy="1600200"/>
            </a:xfrm>
            <a:prstGeom prst="roundRect">
              <a:avLst>
                <a:gd name="adj" fmla="val 4571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355080" y="1371600"/>
              <a:ext cx="219456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Aim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Less waiting and crowding using the existing fleet, without additional buses.</a:t>
              </a:r>
              <a:endParaRPr lang="en-US" sz="15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METHODOLOGY  ·  PIPELINE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Seven-stage pipeline, fully reproducible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5" name="badge 1"/>
          <p:cNvSpPr txBox="1"/>
          <p:nvPr/>
        </p:nvSpPr>
        <p:spPr>
          <a:xfrm>
            <a:off x="585216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Data audit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847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Timetable → validated route table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256032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" name="badge 2"/>
          <p:cNvSpPr txBox="1"/>
          <p:nvPr/>
        </p:nvSpPr>
        <p:spPr>
          <a:xfrm>
            <a:off x="2688336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Calibration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06624" y="1847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Cycle time τ vs fleet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66344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3" name="badge 3"/>
          <p:cNvSpPr txBox="1"/>
          <p:nvPr/>
        </p:nvSpPr>
        <p:spPr>
          <a:xfrm>
            <a:off x="4791456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Demand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1847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Synthetic, fuzzy (L, M, U)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676656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17" name="badge 4"/>
          <p:cNvSpPr txBox="1"/>
          <p:nvPr/>
        </p:nvSpPr>
        <p:spPr>
          <a:xfrm>
            <a:off x="6894576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138988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MILP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1847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Headway menu, Z1-Z3</a:t>
            </a:r>
            <a:endParaRPr lang="en-US" sz="1150" dirty="0"/>
          </a:p>
        </p:txBody>
      </p:sp>
      <p:sp>
        <p:nvSpPr>
          <p:cNvPr id="20" name="card"/>
          <p:cNvSpPr/>
          <p:nvPr/>
        </p:nvSpPr>
        <p:spPr>
          <a:xfrm>
            <a:off x="1508760" y="26974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21" name="badge 5"/>
          <p:cNvSpPr txBox="1"/>
          <p:nvPr/>
        </p:nvSpPr>
        <p:spPr>
          <a:xfrm>
            <a:off x="1636776" y="28254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2807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Goal programming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55064" y="326440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Priority scenarios</a:t>
            </a:r>
            <a:endParaRPr lang="en-US" sz="1150" dirty="0"/>
          </a:p>
        </p:txBody>
      </p:sp>
      <p:sp>
        <p:nvSpPr>
          <p:cNvPr id="24" name="card"/>
          <p:cNvSpPr/>
          <p:nvPr/>
        </p:nvSpPr>
        <p:spPr>
          <a:xfrm>
            <a:off x="3611880" y="26974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25" name="badge 6"/>
          <p:cNvSpPr txBox="1"/>
          <p:nvPr/>
        </p:nvSpPr>
        <p:spPr>
          <a:xfrm>
            <a:off x="3739896" y="28254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2807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Pareto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758184" y="326440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AUGMECON 2D and 3D</a:t>
            </a:r>
            <a:endParaRPr lang="en-US" sz="1150" dirty="0"/>
          </a:p>
        </p:txBody>
      </p:sp>
      <p:sp>
        <p:nvSpPr>
          <p:cNvPr id="28" name="card"/>
          <p:cNvSpPr/>
          <p:nvPr/>
        </p:nvSpPr>
        <p:spPr>
          <a:xfrm>
            <a:off x="5715000" y="26974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29" name="badge 7"/>
          <p:cNvSpPr txBox="1"/>
          <p:nvPr/>
        </p:nvSpPr>
        <p:spPr>
          <a:xfrm>
            <a:off x="5843016" y="28254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807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[FUTURE] Simulation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861304" y="326440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</a:rPr>
              <a:t>[FUTURE] 2,000 demand days, sensitivity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One command (python run_all.py) regenerates every table and figure; 100 automated tests check data, model, solvers.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pPr algn="ctr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METHODOLOGY  ·  MATHEMATICAL MODEL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linear multi-objective MILP over a headway menu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16152"/>
            <a:ext cx="4069080" cy="2487168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Objectives (minimise)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 M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Σ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(h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/2) y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waiting (pax·min/h), linear in binaries 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 d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5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78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vehicle-km per 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44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 o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</a:t>
            </a:r>
            <a:r>
              <a:rPr lang="en-US" sz="150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passengers above capacity per day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13" name="badge 1"/>
          <p:cNvSpPr txBox="1"/>
          <p:nvPr/>
        </p:nvSpPr>
        <p:spPr>
          <a:xfrm>
            <a:off x="4754880" y="1645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6184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B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357</a:t>
            </a:r>
            <a:r>
              <a:rPr lang="en-US" sz="1050" dirty="0">
                <a:solidFill>
                  <a:srgbClr val="555555"/>
                </a:solidFill>
              </a:rPr>
              <a:t>   fleet in every period</a:t>
            </a:r>
            <a:endParaRPr lang="en-US" sz="1250" dirty="0"/>
          </a:p>
        </p:txBody>
      </p:sp>
      <p:sp>
        <p:nvSpPr>
          <p:cNvPr id="15" name="badge 2"/>
          <p:cNvSpPr txBox="1"/>
          <p:nvPr/>
        </p:nvSpPr>
        <p:spPr>
          <a:xfrm>
            <a:off x="4754880" y="205740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x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x integer</a:t>
            </a:r>
            <a:r>
              <a:rPr lang="en-US" sz="1050" dirty="0">
                <a:solidFill>
                  <a:srgbClr val="555555"/>
                </a:solidFill>
              </a:rPr>
              <a:t>   buses needed to run a frequency</a:t>
            </a:r>
            <a:endParaRPr lang="en-US" sz="1250" dirty="0"/>
          </a:p>
        </p:txBody>
      </p:sp>
      <p:sp>
        <p:nvSpPr>
          <p:cNvPr id="17" name="badge 3"/>
          <p:cNvSpPr txBox="1"/>
          <p:nvPr/>
        </p:nvSpPr>
        <p:spPr>
          <a:xfrm>
            <a:off x="4754880" y="24688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D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C f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o ≥ 0</a:t>
            </a:r>
            <a:r>
              <a:rPr lang="en-US" sz="1050" dirty="0">
                <a:solidFill>
                  <a:srgbClr val="555555"/>
                </a:solidFill>
              </a:rPr>
              <a:t>   overflow above capacity C = 60</a:t>
            </a:r>
            <a:endParaRPr lang="en-US" sz="1250" dirty="0"/>
          </a:p>
        </p:txBody>
      </p:sp>
      <p:sp>
        <p:nvSpPr>
          <p:cNvPr id="19" name="badge 4"/>
          <p:cNvSpPr txBox="1"/>
          <p:nvPr/>
        </p:nvSpPr>
        <p:spPr>
          <a:xfrm>
            <a:off x="4754880" y="2880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f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f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1050" dirty="0">
                <a:solidFill>
                  <a:srgbClr val="555555"/>
                </a:solidFill>
              </a:rPr>
              <a:t>   published bounds, via the menu</a:t>
            </a:r>
            <a:endParaRPr lang="en-US" sz="1250" dirty="0"/>
          </a:p>
        </p:txBody>
      </p:sp>
      <p:sp>
        <p:nvSpPr>
          <p:cNvPr id="21" name="badge 5"/>
          <p:cNvSpPr txBox="1"/>
          <p:nvPr/>
        </p:nvSpPr>
        <p:spPr>
          <a:xfrm>
            <a:off x="4754880" y="32918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2644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|x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≤ dev</a:t>
            </a:r>
            <a:r>
              <a:rPr lang="en-US" sz="1250" b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2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headway cap</a:t>
            </a:r>
            <a:r>
              <a:rPr lang="en-US" sz="1050" dirty="0">
                <a:solidFill>
                  <a:srgbClr val="555555"/>
                </a:solidFill>
              </a:rPr>
              <a:t>   practicality, equity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METHODOLOGY  ·  UNCERTAINTY AND SOLUTION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demand, priorities, Pareto check and simulation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16152"/>
            <a:ext cx="4023360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21792" y="12893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Fuzzy demand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002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Triangular (L, M, U) with L = 0.80M, U = 1.35M. Capacity planned for the upper α-cut Dα = U − α(U − M); α = 1 gives M, α = 0 gives U.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4663440" y="1216152"/>
            <a:ext cx="4023360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828032" y="12893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Goal programming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6002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G1 waiting −4%, G2 overflow 0, G3 vehicle-km −3%, G4 headway caps 60/90 min. Preemptive (3 priority orders), weighted and Chebyshev forms.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457200" y="2569464"/>
            <a:ext cx="4023360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21792" y="26426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Pareto cross-check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95351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Exact AUGMECON on a 20×20 grid → 46 strictly efficient points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663440" y="2569464"/>
            <a:ext cx="4023360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828032" y="26426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Simulation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95351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[Future] Simulation: 2,000 synthetic demand days with gamma headways — Phase 8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RESULTS  ·  DATA AND CALIBRATION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one-way reading of route length fits the fleet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754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5440680" y="1216152"/>
            <a:ext cx="3246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5577840" y="1271016"/>
            <a:ext cx="2999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Data audit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68/68 routes match the PDF; totals 389 buses, 1,662 km; 17 rounded cells corrected.</a:t>
            </a:r>
            <a:endParaRPr lang="en-US" sz="1250" dirty="0"/>
          </a:p>
        </p:txBody>
      </p:sp>
      <p:sp>
        <p:nvSpPr>
          <p:cNvPr id="7" name="card"/>
          <p:cNvSpPr/>
          <p:nvPr/>
        </p:nvSpPr>
        <p:spPr>
          <a:xfrm>
            <a:off x="5440680" y="2313432"/>
            <a:ext cx="3246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5577840" y="2368296"/>
            <a:ext cx="2999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Full-cycle reading fails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Only 44.2% of the fleet would be used, and 57 of 68 routes would hold more buses than their maximum frequency needs.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5440680" y="3410712"/>
            <a:ext cx="3246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5577840" y="3465576"/>
            <a:ext cx="2999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Chosen setting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One-way length, 22 km/h, 10% layover: 96.4% fleet use with spares. CTU must confirm the length convention.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RESULTS  ·  GOAL PROGRAMMING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Priorities matter once frequency limits are relaxed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19751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Waiting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Vehicle-km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Overflow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Above cap (min)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Goals met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P-PASSENGER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overflow &gt; wait &gt; equity &gt; km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−4.0%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−2.5%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−29.6%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 of 4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P-OPERATOR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km &gt; overflow &gt; wait &gt; equity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−3.8%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−3.0%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−29.6%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 of 4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P-EQUITY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equity &gt; overflow &gt; wait &gt; km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−4.0%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−3.1%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−26.4%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3 of 4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P-BALANCED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equal normalised weights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−4.1%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−3.1%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−26.4%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3 of 4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CHEBYSHEV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min-max deviation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−3.8%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−3.0%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−29.6%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 of 4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Changes vs the published schedule; f_max relaxed by two menu levels, α = 0.5. With published f_max all five scenarios give the same schedule (waiting +0.8%, overflow −0.6%): nothing to prioritise. G2 (zero overflow) is unattainable by design; targets were set inside the attainable range after the ideal values were known.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RESULTS  ·  PARETO CROSS-CHECK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65597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Exact Multi-Objective Pareto Front (2-D Trade-Offs)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361188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530352" y="36484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40507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</a:rPr>
              <a:t>exact efficient points (AUGMECON 20×20)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2560320" y="361188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2633472" y="36484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0.946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633472" y="40507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b="1" dirty="0"/>
              <a:t>Hypervolume = 0.946:</a:t>
            </a:r>
            <a:r>
              <a:rPr lang="en-IN" sz="1000" dirty="0"/>
              <a:t> Front captures 94.6% of the multi-objective solution space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4663440" y="361188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4736592" y="36484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736592" y="40507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</a:rPr>
              <a:t>0 Dominated Points: Mathematically verifies all 46 schedules are strictly non-dominated</a:t>
            </a:r>
          </a:p>
        </p:txBody>
      </p:sp>
      <p:sp>
        <p:nvSpPr>
          <p:cNvPr id="14" name="card"/>
          <p:cNvSpPr/>
          <p:nvPr/>
        </p:nvSpPr>
        <p:spPr>
          <a:xfrm>
            <a:off x="6766560" y="361188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6839712" y="36484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59.7 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839712" y="405079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</a:rPr>
              <a:t>AUGMECON 20×20 grid solve time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A9257A-8581-E6C0-5103-B2440E32B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69" y="997834"/>
            <a:ext cx="8426035" cy="2449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4486E5-3089-A4F9-1258-2FA93E55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32" y="626516"/>
            <a:ext cx="4926989" cy="41322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9040AF1-24B3-68FB-E428-2CB8053DD81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355147" y="475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3-D Pareto Front vs. Goal Programming &amp; Baseline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5CBD9B8-9EEB-5F95-072B-5DC802BB66B1}"/>
              </a:ext>
            </a:extLst>
          </p:cNvPr>
          <p:cNvGrpSpPr/>
          <p:nvPr/>
        </p:nvGrpSpPr>
        <p:grpSpPr>
          <a:xfrm>
            <a:off x="5416358" y="2472068"/>
            <a:ext cx="3605319" cy="896112"/>
            <a:chOff x="5216490" y="173281"/>
            <a:chExt cx="3619534" cy="896112"/>
          </a:xfrm>
        </p:grpSpPr>
        <p:sp>
          <p:nvSpPr>
            <p:cNvPr id="8" name="card">
              <a:extLst>
                <a:ext uri="{FF2B5EF4-FFF2-40B4-BE49-F238E27FC236}">
                  <a16:creationId xmlns:a16="http://schemas.microsoft.com/office/drawing/2014/main" id="{19BB25CC-57A7-2BA4-C551-08AFC8DD3D48}"/>
                </a:ext>
              </a:extLst>
            </p:cNvPr>
            <p:cNvSpPr/>
            <p:nvPr/>
          </p:nvSpPr>
          <p:spPr>
            <a:xfrm>
              <a:off x="5216490" y="173281"/>
              <a:ext cx="3619534" cy="896112"/>
            </a:xfrm>
            <a:prstGeom prst="roundRect">
              <a:avLst>
                <a:gd name="adj" fmla="val 8163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 3">
                  <a:extLst>
                    <a:ext uri="{FF2B5EF4-FFF2-40B4-BE49-F238E27FC236}">
                      <a16:creationId xmlns:a16="http://schemas.microsoft.com/office/drawing/2014/main" id="{2BCBDEC5-9C55-FD99-991B-75D27DB2C544}"/>
                    </a:ext>
                  </a:extLst>
                </p:cNvPr>
                <p:cNvSpPr txBox="1"/>
                <p:nvPr/>
              </p:nvSpPr>
              <p:spPr>
                <a:xfrm>
                  <a:off x="5304336" y="257978"/>
                  <a:ext cx="3472387" cy="74568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IN" sz="1100" b="1" dirty="0"/>
                    <a:t>P-BALANCED is 0.068 away:</a:t>
                  </a:r>
                  <a:r>
                    <a:rPr lang="en-IN" sz="1100" dirty="0">
                      <a:effectLst/>
                    </a:rPr>
                    <a:t> Trades a small amount of crowding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/>
                          </m:ctrlPr>
                        </m:sSubPr>
                        <m:e>
                          <m:r>
                            <a:rPr lang="en-IN" sz="1050" i="1"/>
                            <m:t>𝑍</m:t>
                          </m:r>
                        </m:e>
                        <m:sub>
                          <m:r>
                            <a:rPr lang="en-IN" sz="1050"/>
                            <m:t>3</m:t>
                          </m:r>
                        </m:sub>
                      </m:sSub>
                    </m:oMath>
                  </a14:m>
                  <a:r>
                    <a:rPr lang="en-IN" sz="1100" dirty="0">
                      <a:effectLst/>
                    </a:rPr>
                    <a:t>) to achieve headway equity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/>
                          </m:ctrlPr>
                        </m:sSubPr>
                        <m:e>
                          <m:r>
                            <a:rPr lang="en-IN" sz="1050" i="1"/>
                            <m:t>𝐶</m:t>
                          </m:r>
                        </m:e>
                        <m:sub>
                          <m:r>
                            <a:rPr lang="en-IN" sz="1050"/>
                            <m:t>5</m:t>
                          </m:r>
                        </m:sub>
                      </m:sSub>
                    </m:oMath>
                  </a14:m>
                  <a:r>
                    <a:rPr lang="en-IN" sz="1100" dirty="0">
                      <a:effectLst/>
                    </a:rPr>
                    <a:t>), a 4th metric invisible in 3-D</a:t>
                  </a:r>
                  <a:endParaRPr lang="en-US" sz="1100" dirty="0"/>
                </a:p>
              </p:txBody>
            </p:sp>
          </mc:Choice>
          <mc:Fallback>
            <p:sp>
              <p:nvSpPr>
                <p:cNvPr id="10" name="Text 3">
                  <a:extLst>
                    <a:ext uri="{FF2B5EF4-FFF2-40B4-BE49-F238E27FC236}">
                      <a16:creationId xmlns:a16="http://schemas.microsoft.com/office/drawing/2014/main" id="{2BCBDEC5-9C55-FD99-991B-75D27DB2C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4336" y="257978"/>
                  <a:ext cx="3472387" cy="745689"/>
                </a:xfrm>
                <a:prstGeom prst="rect">
                  <a:avLst/>
                </a:prstGeom>
                <a:blipFill>
                  <a:blip r:embed="rId3"/>
                  <a:stretch>
                    <a:fillRect l="-882" r="-1587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E4ED7A2-6AA5-6260-AD1F-C55295337CC1}"/>
              </a:ext>
            </a:extLst>
          </p:cNvPr>
          <p:cNvGrpSpPr/>
          <p:nvPr/>
        </p:nvGrpSpPr>
        <p:grpSpPr>
          <a:xfrm>
            <a:off x="5435454" y="3478767"/>
            <a:ext cx="3633751" cy="1509611"/>
            <a:chOff x="4884691" y="1259013"/>
            <a:chExt cx="3633751" cy="1509611"/>
          </a:xfrm>
        </p:grpSpPr>
        <p:sp>
          <p:nvSpPr>
            <p:cNvPr id="14" name="card">
              <a:extLst>
                <a:ext uri="{FF2B5EF4-FFF2-40B4-BE49-F238E27FC236}">
                  <a16:creationId xmlns:a16="http://schemas.microsoft.com/office/drawing/2014/main" id="{7A52EA47-F929-9CE5-116F-81035574F1A7}"/>
                </a:ext>
              </a:extLst>
            </p:cNvPr>
            <p:cNvSpPr/>
            <p:nvPr/>
          </p:nvSpPr>
          <p:spPr>
            <a:xfrm>
              <a:off x="4884691" y="1259013"/>
              <a:ext cx="3633751" cy="1509611"/>
            </a:xfrm>
            <a:prstGeom prst="roundRect">
              <a:avLst>
                <a:gd name="adj" fmla="val 8163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 6">
                  <a:extLst>
                    <a:ext uri="{FF2B5EF4-FFF2-40B4-BE49-F238E27FC236}">
                      <a16:creationId xmlns:a16="http://schemas.microsoft.com/office/drawing/2014/main" id="{CE9F071B-B790-8063-E602-DA9F06D7561C}"/>
                    </a:ext>
                  </a:extLst>
                </p:cNvPr>
                <p:cNvSpPr txBox="1"/>
                <p:nvPr/>
              </p:nvSpPr>
              <p:spPr>
                <a:xfrm>
                  <a:off x="4987560" y="1315381"/>
                  <a:ext cx="3497570" cy="141242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lvl="0"/>
                  <a:r>
                    <a:rPr lang="en-IN" sz="1200" b="1" dirty="0"/>
                    <a:t>Published Baseline Flaw (★ Black Star):</a:t>
                  </a:r>
                  <a:r>
                    <a:rPr lang="en-IN" sz="1200" dirty="0">
                      <a:effectLst/>
                    </a:rPr>
                    <a:t> Lies far away from the front (distance </a:t>
                  </a:r>
                  <a14:m>
                    <m:oMath xmlns:m="http://schemas.openxmlformats.org/officeDocument/2006/math">
                      <m:r>
                        <a:rPr lang="en-IN" sz="1100"/>
                        <m:t>=1.093</m:t>
                      </m:r>
                    </m:oMath>
                  </a14:m>
                  <a:r>
                    <a:rPr lang="en-IN" sz="1200" dirty="0">
                      <a:effectLst/>
                    </a:rPr>
                    <a:t>)</a:t>
                  </a:r>
                </a:p>
                <a:p>
                  <a:pPr lvl="0"/>
                  <a:r>
                    <a:rPr lang="en-IN" sz="1200" b="1" dirty="0">
                      <a:effectLst/>
                    </a:rPr>
                    <a:t>Strictly dominated:</a:t>
                  </a:r>
                  <a:r>
                    <a:rPr lang="en-IN" sz="1200" dirty="0">
                      <a:effectLst/>
                    </a:rPr>
                    <a:t> Every Pareto point achieves better wait time, lower distance, and less crowding while respecting the allocated fleet limit (357 buses vs. 385 baseline).</a:t>
                  </a:r>
                </a:p>
              </p:txBody>
            </p:sp>
          </mc:Choice>
          <mc:Fallback>
            <p:sp>
              <p:nvSpPr>
                <p:cNvPr id="16" name="Text 6">
                  <a:extLst>
                    <a:ext uri="{FF2B5EF4-FFF2-40B4-BE49-F238E27FC236}">
                      <a16:creationId xmlns:a16="http://schemas.microsoft.com/office/drawing/2014/main" id="{CE9F071B-B790-8063-E602-DA9F06D75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560" y="1315381"/>
                  <a:ext cx="3497570" cy="1412422"/>
                </a:xfrm>
                <a:prstGeom prst="rect">
                  <a:avLst/>
                </a:prstGeom>
                <a:blipFill>
                  <a:blip r:embed="rId4"/>
                  <a:stretch>
                    <a:fillRect l="-2792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A59C53-5C54-1E2C-C024-CFDC18B7869F}"/>
              </a:ext>
            </a:extLst>
          </p:cNvPr>
          <p:cNvGrpSpPr/>
          <p:nvPr/>
        </p:nvGrpSpPr>
        <p:grpSpPr>
          <a:xfrm>
            <a:off x="5402143" y="646372"/>
            <a:ext cx="3647967" cy="708408"/>
            <a:chOff x="6912863" y="4038219"/>
            <a:chExt cx="1927752" cy="896112"/>
          </a:xfrm>
        </p:grpSpPr>
        <p:sp>
          <p:nvSpPr>
            <p:cNvPr id="20" name="card">
              <a:extLst>
                <a:ext uri="{FF2B5EF4-FFF2-40B4-BE49-F238E27FC236}">
                  <a16:creationId xmlns:a16="http://schemas.microsoft.com/office/drawing/2014/main" id="{AA459488-D2ED-0649-1303-4D4162BE850E}"/>
                </a:ext>
              </a:extLst>
            </p:cNvPr>
            <p:cNvSpPr/>
            <p:nvPr/>
          </p:nvSpPr>
          <p:spPr>
            <a:xfrm>
              <a:off x="6920375" y="4038219"/>
              <a:ext cx="1920240" cy="896112"/>
            </a:xfrm>
            <a:prstGeom prst="roundRect">
              <a:avLst>
                <a:gd name="adj" fmla="val 8163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 10">
                  <a:extLst>
                    <a:ext uri="{FF2B5EF4-FFF2-40B4-BE49-F238E27FC236}">
                      <a16:creationId xmlns:a16="http://schemas.microsoft.com/office/drawing/2014/main" id="{CD407E06-E68B-7420-F554-0FC88F147985}"/>
                    </a:ext>
                  </a:extLst>
                </p:cNvPr>
                <p:cNvSpPr txBox="1"/>
                <p:nvPr/>
              </p:nvSpPr>
              <p:spPr>
                <a:xfrm>
                  <a:off x="6912863" y="4280534"/>
                  <a:ext cx="1920239" cy="51598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IN" sz="1000" b="1" dirty="0"/>
                    <a:t>Objective Space:</a:t>
                  </a:r>
                  <a:r>
                    <a:rPr lang="en-IN" sz="1000" dirty="0">
                      <a:effectLst/>
                    </a:rPr>
                    <a:t> Minimising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𝑍</m:t>
                          </m:r>
                        </m:e>
                        <m:sub>
                          <m:r>
                            <a:rPr lang="en-IN"/>
                            <m:t>1</m:t>
                          </m:r>
                        </m:sub>
                      </m:sSub>
                    </m:oMath>
                  </a14:m>
                  <a:r>
                    <a:rPr lang="en-IN" sz="1000" dirty="0">
                      <a:effectLst/>
                    </a:rPr>
                    <a:t>(Passenger Wait),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𝑍</m:t>
                          </m:r>
                        </m:e>
                        <m:sub>
                          <m:r>
                            <a:rPr lang="en-IN"/>
                            <m:t>2</m:t>
                          </m:r>
                        </m:sub>
                      </m:sSub>
                    </m:oMath>
                  </a14:m>
                  <a:r>
                    <a:rPr lang="en-IN" sz="1000" dirty="0">
                      <a:effectLst/>
                    </a:rPr>
                    <a:t>(Vehicle-km),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𝑍</m:t>
                          </m:r>
                        </m:e>
                        <m:sub>
                          <m:r>
                            <a:rPr lang="en-IN"/>
                            <m:t>3</m:t>
                          </m:r>
                        </m:sub>
                      </m:sSub>
                    </m:oMath>
                  </a14:m>
                  <a:r>
                    <a:rPr lang="en-IN" sz="1000" dirty="0">
                      <a:effectLst/>
                    </a:rPr>
                    <a:t>(Unserved Demand)</a:t>
                  </a:r>
                  <a:endParaRPr lang="en-US" sz="1000" dirty="0">
                    <a:solidFill>
                      <a:srgbClr val="4A4A4A"/>
                    </a:solidFill>
                  </a:endParaRPr>
                </a:p>
              </p:txBody>
            </p:sp>
          </mc:Choice>
          <mc:Fallback>
            <p:sp>
              <p:nvSpPr>
                <p:cNvPr id="24" name="Text 10">
                  <a:extLst>
                    <a:ext uri="{FF2B5EF4-FFF2-40B4-BE49-F238E27FC236}">
                      <a16:creationId xmlns:a16="http://schemas.microsoft.com/office/drawing/2014/main" id="{CD407E06-E68B-7420-F554-0FC88F147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2863" y="4280534"/>
                  <a:ext cx="1920239" cy="515983"/>
                </a:xfrm>
                <a:prstGeom prst="rect">
                  <a:avLst/>
                </a:prstGeom>
                <a:blipFill>
                  <a:blip r:embed="rId5"/>
                  <a:stretch>
                    <a:fillRect l="-1342" t="-10448" r="-2181" b="-32836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card">
            <a:extLst>
              <a:ext uri="{FF2B5EF4-FFF2-40B4-BE49-F238E27FC236}">
                <a16:creationId xmlns:a16="http://schemas.microsoft.com/office/drawing/2014/main" id="{1DE8F6A1-6314-FA16-560E-B4F9F15D6AC6}"/>
              </a:ext>
            </a:extLst>
          </p:cNvPr>
          <p:cNvSpPr/>
          <p:nvPr/>
        </p:nvSpPr>
        <p:spPr>
          <a:xfrm>
            <a:off x="5402143" y="1465368"/>
            <a:ext cx="3619534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13">
                <a:extLst>
                  <a:ext uri="{FF2B5EF4-FFF2-40B4-BE49-F238E27FC236}">
                    <a16:creationId xmlns:a16="http://schemas.microsoft.com/office/drawing/2014/main" id="{BEAF05AE-37AF-D5B8-EE53-FBB6998AC34A}"/>
                  </a:ext>
                </a:extLst>
              </p:cNvPr>
              <p:cNvSpPr txBox="1"/>
              <p:nvPr/>
            </p:nvSpPr>
            <p:spPr>
              <a:xfrm>
                <a:off x="5538323" y="1606586"/>
                <a:ext cx="3497569" cy="7957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IN" sz="1000" b="1" dirty="0"/>
                  <a:t>P-PASSENGER lies directly on the front</a:t>
                </a:r>
                <a:r>
                  <a:rPr lang="en-IN" sz="1000" dirty="0">
                    <a:effectLst/>
                  </a:rPr>
                  <a:t> (distance </a:t>
                </a:r>
                <a14:m>
                  <m:oMath xmlns:m="http://schemas.openxmlformats.org/officeDocument/2006/math">
                    <m:r>
                      <a:rPr lang="en-IN"/>
                      <m:t>=0.000</m:t>
                    </m:r>
                  </m:oMath>
                </a14:m>
                <a:r>
                  <a:rPr lang="en-IN" sz="1000" dirty="0">
                    <a:effectLst/>
                  </a:rPr>
                  <a:t>) — an optimal extreme trade-off</a:t>
                </a:r>
                <a:endParaRPr lang="en-US" sz="1000" dirty="0"/>
              </a:p>
            </p:txBody>
          </p:sp>
        </mc:Choice>
        <mc:Fallback>
          <p:sp>
            <p:nvSpPr>
              <p:cNvPr id="30" name="Text 13">
                <a:extLst>
                  <a:ext uri="{FF2B5EF4-FFF2-40B4-BE49-F238E27FC236}">
                    <a16:creationId xmlns:a16="http://schemas.microsoft.com/office/drawing/2014/main" id="{BEAF05AE-37AF-D5B8-EE53-FBB6998AC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323" y="1606586"/>
                <a:ext cx="3497569" cy="795767"/>
              </a:xfrm>
              <a:prstGeom prst="rect">
                <a:avLst/>
              </a:prstGeom>
              <a:blipFill>
                <a:blip r:embed="rId6"/>
                <a:stretch>
                  <a:fillRect l="-698" r="-15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212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</a:rPr>
              <a:t>RESULTS  ·  LIMITATIONS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54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Demand is synthetic and illustrative — not measured CTU ridership; gains concentrate on long infrequent routes partly by construction.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Calibration uses a single assumed speed (22 km/h); route-specific running times are needed for greater precision.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GP targets were set after best achievable values were known — goal achievement is conditional on target choice.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Results are deterministic at α = 0.5; Monte Carlo stress-testing against day-to-day demand variation is planned (Phase 8).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Waiting objective uses h/2 rule — overstates at long headways; no within-period peak factor; buses move freely across periods.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Headline results use relaxed frequency limits (two levels shorter than published minimum); requires CTU approval.</a:t>
            </a:r>
          </a:p>
          <a:p>
            <a:pPr>
              <a:spcBef>
                <a:spcPts val="500"/>
              </a:spcBef>
            </a:pPr>
            <a:r>
              <a:rPr sz="1500" dirty="0">
                <a:solidFill>
                  <a:srgbClr val="1A1A2E"/>
                </a:solidFill>
              </a:rPr>
              <a:t>•  No depot, crew scheduling, stop-capacity, or transfer constraints modelled yet.</a:t>
            </a:r>
          </a:p>
        </p:txBody>
      </p:sp>
      <p:sp>
        <p:nvSpPr>
          <p:cNvPr id="5" name="Slide Number Placeholder 0">
            <a:extLst>
              <a:ext uri="{FF2B5EF4-FFF2-40B4-BE49-F238E27FC236}">
                <a16:creationId xmlns:a16="http://schemas.microsoft.com/office/drawing/2014/main" id="{5C88654D-7FAD-2A69-37C6-B3891BA5D5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RESULTS  ·  WHAT THE MODEL CANNOT YET CLAIM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scope: what is proven vs what is planned</a:t>
            </a:r>
            <a:endParaRPr lang="en-US" sz="2400" dirty="0"/>
          </a:p>
        </p:txBody>
      </p:sp>
      <p:pic>
        <p:nvPicPr>
          <p:cNvPr id="4" name="Image 0" descr="C:\Users\armaa\OneDrive\Desktop\Minors\outputs\figures\sensitivity_torn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1286893"/>
            <a:ext cx="4846320" cy="32666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card"/>
          <p:cNvSpPr/>
          <p:nvPr/>
        </p:nvSpPr>
        <p:spPr>
          <a:xfrm>
            <a:off x="5349240" y="118872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5468112" y="1225296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chemeClr val="tx2"/>
                </a:solidFill>
              </a:rPr>
              <a:t>Results validated against demand (seed 42, anchor 81,326 boardings/day)</a:t>
            </a:r>
          </a:p>
          <a:p>
            <a:r>
              <a:rPr lang="en-US" sz="1150" b="1" dirty="0">
                <a:solidFill>
                  <a:schemeClr val="tx2"/>
                </a:solidFill>
              </a:rPr>
              <a:t>No out-of-sample test against real or held-out data</a:t>
            </a:r>
          </a:p>
        </p:txBody>
      </p:sp>
      <p:sp>
        <p:nvSpPr>
          <p:cNvPr id="7" name="card"/>
          <p:cNvSpPr/>
          <p:nvPr/>
        </p:nvSpPr>
        <p:spPr>
          <a:xfrm>
            <a:off x="5349240" y="201168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5468112" y="2048256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chemeClr val="tx2"/>
                </a:solidFill>
              </a:rPr>
              <a:t>Stochastic robustness (overflow risk, day-to-day variation) is Phase 8 — Monte Carlo simulation</a:t>
            </a:r>
          </a:p>
          <a:p>
            <a:r>
              <a:rPr lang="en-US" sz="1150" b="1" dirty="0">
                <a:solidFill>
                  <a:schemeClr val="tx2"/>
                </a:solidFill>
              </a:rPr>
              <a:t>Sensitivity to speed, capacity, spares, layover, α and fleet size: planned as one-factor sweeps</a:t>
            </a:r>
          </a:p>
        </p:txBody>
      </p:sp>
      <p:sp>
        <p:nvSpPr>
          <p:cNvPr id="9" name="card"/>
          <p:cNvSpPr/>
          <p:nvPr/>
        </p:nvSpPr>
        <p:spPr>
          <a:xfrm>
            <a:off x="5349240" y="283464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5468112" y="2871216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chemeClr val="tx2"/>
                </a:solidFill>
              </a:rPr>
              <a:t>Current AUGMECON front is the benchmark — NSGA-II will be judged against it by hypervolume and strict dominance (Phase 8)</a:t>
            </a:r>
          </a:p>
        </p:txBody>
      </p:sp>
      <p:sp>
        <p:nvSpPr>
          <p:cNvPr id="11" name="card"/>
          <p:cNvSpPr/>
          <p:nvPr/>
        </p:nvSpPr>
        <p:spPr>
          <a:xfrm>
            <a:off x="5349240" y="3657600"/>
            <a:ext cx="33375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5468112" y="3694176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chemeClr val="tx2"/>
                </a:solidFill>
              </a:rPr>
              <a:t>Conference targets: CTRG 2027 / ORSI annual convention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PLANNED WORK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before the results can speak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16152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adge 1"/>
          <p:cNvSpPr txBox="1"/>
          <p:nvPr/>
        </p:nvSpPr>
        <p:spPr>
          <a:xfrm>
            <a:off x="585216" y="13441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Real ridership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Request ETM ticket data from CTU; boarding counts at 5-10 hubs; L/M/U from 10th/50th/90th percentiles.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246120" y="1216152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adge 2"/>
          <p:cNvSpPr txBox="1"/>
          <p:nvPr/>
        </p:nvSpPr>
        <p:spPr>
          <a:xfrm>
            <a:off x="3374136" y="13441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76472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Fairer comparisons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703070"/>
            <a:ext cx="2478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NSGA-II: approximate Pareto front; compare vs AUGMECON by hypervolume, GD, IGD, coverage. PSO / QPSO: alternative metaheuristics. Simple benchmark (proportional / square-root rule); route-specific running times; GP target sweep.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035040" y="1216152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badge 3"/>
          <p:cNvSpPr txBox="1"/>
          <p:nvPr/>
        </p:nvSpPr>
        <p:spPr>
          <a:xfrm>
            <a:off x="6163056" y="13441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Better waiting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Arrival-timing model for long headways; within-period peak-hour factor.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457200" y="2843784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badge 4"/>
          <p:cNvSpPr txBox="1"/>
          <p:nvPr/>
        </p:nvSpPr>
        <p:spPr>
          <a:xfrm>
            <a:off x="585216" y="29718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2953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CTU validation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5215" y="3332335"/>
            <a:ext cx="241924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Confirm the route-length convention, what the 389 buses include, and the 22 km/h speed. Real ridership data from CTU (ETM / boarding counts); route-specific running times and within-period peak factors.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3246120" y="2843784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badge 5"/>
          <p:cNvSpPr txBox="1"/>
          <p:nvPr/>
        </p:nvSpPr>
        <p:spPr>
          <a:xfrm>
            <a:off x="3374136" y="29718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76472" y="2953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92424" y="34107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Depot and interlining constraints; driver-duty feasibility; stop capacity at shorter headways.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6035040" y="2843784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badge 6"/>
          <p:cNvSpPr txBox="1"/>
          <p:nvPr/>
        </p:nvSpPr>
        <p:spPr>
          <a:xfrm>
            <a:off x="6163056" y="29718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2953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Write-up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341071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Monte Carlo simulation: 2,000 synthetic demand days; gamma-distributed headways; sensitivity sweeps. Final report, viva preparation, conference paper (CTRG 2027 / ORSI).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PLANNED WORK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and target venues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1975" y="170307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61703" y="1739646"/>
            <a:ext cx="17007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04A"/>
                </a:solidFill>
              </a:rPr>
              <a:t>Plan 1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Ridership request, hub counts</a:t>
            </a:r>
            <a:endParaRPr lang="en-US" sz="12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8E7543-8901-EA0A-7BFC-DCAEA0EA4445}"/>
              </a:ext>
            </a:extLst>
          </p:cNvPr>
          <p:cNvGrpSpPr/>
          <p:nvPr/>
        </p:nvGrpSpPr>
        <p:grpSpPr>
          <a:xfrm>
            <a:off x="2560320" y="1703070"/>
            <a:ext cx="1920240" cy="868680"/>
            <a:chOff x="2560320" y="1207008"/>
            <a:chExt cx="1920240" cy="868680"/>
          </a:xfrm>
        </p:grpSpPr>
        <p:sp>
          <p:nvSpPr>
            <p:cNvPr id="6" name="Shape 4"/>
            <p:cNvSpPr/>
            <p:nvPr/>
          </p:nvSpPr>
          <p:spPr>
            <a:xfrm>
              <a:off x="2560320" y="1207008"/>
              <a:ext cx="1920240" cy="868680"/>
            </a:xfrm>
            <a:prstGeom prst="roundRect">
              <a:avLst>
                <a:gd name="adj" fmla="val 8421"/>
              </a:avLst>
            </a:prstGeom>
            <a:solidFill>
              <a:srgbClr val="EEF1F4"/>
            </a:solidFill>
            <a:ln w="12700">
              <a:solidFill>
                <a:srgbClr val="EEF1F4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2670048" y="1243584"/>
              <a:ext cx="1700784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4304A"/>
                  </a:solidFill>
                </a:rPr>
                <a:t>Plan 2</a:t>
              </a:r>
              <a:endParaRPr lang="en-US" sz="125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33333"/>
                  </a:solidFill>
                </a:rPr>
                <a:t>Benchmark, route speeds, waiting model</a:t>
              </a:r>
              <a:endParaRPr lang="en-US" sz="12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590D71-256E-3390-FA1C-7F550A322E37}"/>
              </a:ext>
            </a:extLst>
          </p:cNvPr>
          <p:cNvGrpSpPr/>
          <p:nvPr/>
        </p:nvGrpSpPr>
        <p:grpSpPr>
          <a:xfrm>
            <a:off x="451975" y="3195828"/>
            <a:ext cx="1920240" cy="868680"/>
            <a:chOff x="4663440" y="1207008"/>
            <a:chExt cx="1920240" cy="868680"/>
          </a:xfrm>
        </p:grpSpPr>
        <p:sp>
          <p:nvSpPr>
            <p:cNvPr id="8" name="Shape 6"/>
            <p:cNvSpPr/>
            <p:nvPr/>
          </p:nvSpPr>
          <p:spPr>
            <a:xfrm>
              <a:off x="4663440" y="1207008"/>
              <a:ext cx="1920240" cy="868680"/>
            </a:xfrm>
            <a:prstGeom prst="roundRect">
              <a:avLst>
                <a:gd name="adj" fmla="val 8421"/>
              </a:avLst>
            </a:prstGeom>
            <a:solidFill>
              <a:srgbClr val="EEF1F4"/>
            </a:solidFill>
            <a:ln w="12700">
              <a:solidFill>
                <a:srgbClr val="EEF1F4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4773168" y="1243584"/>
              <a:ext cx="1700784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4304A"/>
                  </a:solidFill>
                </a:rPr>
                <a:t>Plan 3</a:t>
              </a:r>
              <a:endParaRPr lang="en-US" sz="125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33333"/>
                  </a:solidFill>
                </a:rPr>
                <a:t>Re-run with real demand; validation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247CFFB-5124-92F0-6883-484831A83539}"/>
              </a:ext>
            </a:extLst>
          </p:cNvPr>
          <p:cNvGrpSpPr/>
          <p:nvPr/>
        </p:nvGrpSpPr>
        <p:grpSpPr>
          <a:xfrm>
            <a:off x="2651760" y="3195828"/>
            <a:ext cx="1920240" cy="868680"/>
            <a:chOff x="6766560" y="1207008"/>
            <a:chExt cx="1920240" cy="868680"/>
          </a:xfrm>
        </p:grpSpPr>
        <p:sp>
          <p:nvSpPr>
            <p:cNvPr id="10" name="Shape 8"/>
            <p:cNvSpPr/>
            <p:nvPr/>
          </p:nvSpPr>
          <p:spPr>
            <a:xfrm>
              <a:off x="6766560" y="1207008"/>
              <a:ext cx="1920240" cy="868680"/>
            </a:xfrm>
            <a:prstGeom prst="roundRect">
              <a:avLst>
                <a:gd name="adj" fmla="val 8421"/>
              </a:avLst>
            </a:prstGeom>
            <a:solidFill>
              <a:srgbClr val="EEF1F4"/>
            </a:solidFill>
            <a:ln w="12700">
              <a:solidFill>
                <a:srgbClr val="EEF1F4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6876288" y="1243584"/>
              <a:ext cx="1700784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4304A"/>
                  </a:solidFill>
                </a:rPr>
                <a:t>Plan 4</a:t>
              </a:r>
              <a:endParaRPr lang="en-US" sz="125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33333"/>
                  </a:solidFill>
                </a:rPr>
                <a:t>Phase 8: NSGA-II + Monte Carlo simulation; Report, paper submission (CTRG 2027 / ORSI)</a:t>
              </a:r>
              <a:endParaRPr lang="en-US" sz="1250" dirty="0"/>
            </a:p>
          </p:txBody>
        </p:sp>
      </p:grpSp>
      <p:sp>
        <p:nvSpPr>
          <p:cNvPr id="20" name="card"/>
          <p:cNvSpPr/>
          <p:nvPr/>
        </p:nvSpPr>
        <p:spPr>
          <a:xfrm>
            <a:off x="4937760" y="1703070"/>
            <a:ext cx="3644537" cy="2324862"/>
          </a:xfrm>
          <a:prstGeom prst="roundRect">
            <a:avLst>
              <a:gd name="adj" fmla="val 33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102352" y="1838597"/>
            <a:ext cx="3377863" cy="214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83A2E"/>
                </a:solidFill>
              </a:rPr>
              <a:t>Conferences targeted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Conference of Transportation Research Group of India (CTRG): biennial; 8th edition held at IIT Guwahati, Dec 2025.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ORSI Annual Convention (Operational Research Society of India): usually held in December.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38981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11530"/>
            <a:ext cx="86868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000" dirty="0"/>
              <a:t>[1</a:t>
            </a:r>
            <a:r>
              <a:rPr lang="en-IN" sz="1000" dirty="0">
                <a:solidFill>
                  <a:srgbClr val="222222"/>
                </a:solidFill>
              </a:rPr>
              <a:t>] A. Ceder, Public Transit Planning and Operation: </a:t>
            </a:r>
            <a:r>
              <a:rPr lang="en-IN" sz="1000" dirty="0" err="1">
                <a:solidFill>
                  <a:srgbClr val="222222"/>
                </a:solidFill>
              </a:rPr>
              <a:t>Modeling</a:t>
            </a:r>
            <a:r>
              <a:rPr lang="en-IN" sz="1000" dirty="0">
                <a:solidFill>
                  <a:srgbClr val="222222"/>
                </a:solidFill>
              </a:rPr>
              <a:t>, Practice and </a:t>
            </a:r>
            <a:r>
              <a:rPr lang="en-IN" sz="1000" dirty="0" err="1">
                <a:solidFill>
                  <a:srgbClr val="222222"/>
                </a:solidFill>
              </a:rPr>
              <a:t>Behavior</a:t>
            </a:r>
            <a:r>
              <a:rPr lang="en-IN" sz="1000" dirty="0">
                <a:solidFill>
                  <a:srgbClr val="222222"/>
                </a:solidFill>
              </a:rPr>
              <a:t>, 2nd ed. Boca Raton, FL: CRC Press, 2016,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10.1201/b18689.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[2] A. Ceder and N. H. M. Wilson, “Bus network design,” Transportation Research Part B, vol. 20, no. 4, pp. 331–344, 1986,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10.1016/0191-2615(86)90047-0.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[3] P. G. Furth and N. H. M. Wilson, “Setting frequencies on bus routes: theory and practice,” Transportation Research Record, no. 818, pp. 1–7, 1981.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[4] O. J. Ibarra-Rojas, F. Delgado, R. Giesen and J. C. Muñoz, “Planning, operation, and control of bus transport systems: A literature review,” Transportation Research Part B, vol. 77, pp. 38–75, 2015,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10.1016/j.trb.2015.03.002.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[5] H. Martínez, A. </a:t>
            </a:r>
            <a:r>
              <a:rPr lang="en-IN" sz="1000" dirty="0" err="1">
                <a:solidFill>
                  <a:srgbClr val="222222"/>
                </a:solidFill>
              </a:rPr>
              <a:t>Mauttone</a:t>
            </a:r>
            <a:r>
              <a:rPr lang="en-IN" sz="1000" dirty="0">
                <a:solidFill>
                  <a:srgbClr val="222222"/>
                </a:solidFill>
              </a:rPr>
              <a:t> and M. E. Urquhart, “Frequency optimization in public transportation systems: Formulation and metaheuristic approach,” European Journal of Operational Research, vol. 236, no. 1, pp. 27–36, 2014,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10.1016/j.ejor.2013.11.007.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[6] İ. Ö. </a:t>
            </a:r>
            <a:r>
              <a:rPr lang="en-IN" sz="1000" dirty="0" err="1">
                <a:solidFill>
                  <a:srgbClr val="222222"/>
                </a:solidFill>
              </a:rPr>
              <a:t>Verbas</a:t>
            </a:r>
            <a:r>
              <a:rPr lang="en-IN" sz="1000" dirty="0">
                <a:solidFill>
                  <a:srgbClr val="222222"/>
                </a:solidFill>
              </a:rPr>
              <a:t> and H. S. </a:t>
            </a:r>
            <a:r>
              <a:rPr lang="en-IN" sz="1000" dirty="0" err="1">
                <a:solidFill>
                  <a:srgbClr val="222222"/>
                </a:solidFill>
              </a:rPr>
              <a:t>Mahmassani</a:t>
            </a:r>
            <a:r>
              <a:rPr lang="en-IN" sz="1000" dirty="0">
                <a:solidFill>
                  <a:srgbClr val="222222"/>
                </a:solidFill>
              </a:rPr>
              <a:t>, “Exploring trade-offs in frequency allocation in a transit network using bus route patterns: Methodology and application to large-scale urban systems,” Transportation Research Part B, vol. 81, pp. 577–595, 2015,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10.1016/j.trb.2015.06.018.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[7] K. Deb, A. Pratap, S. Agarwal and T. </a:t>
            </a:r>
            <a:r>
              <a:rPr lang="en-IN" sz="1000" dirty="0" err="1">
                <a:solidFill>
                  <a:srgbClr val="222222"/>
                </a:solidFill>
              </a:rPr>
              <a:t>Meyarivan</a:t>
            </a:r>
            <a:r>
              <a:rPr lang="en-IN" sz="1000" dirty="0">
                <a:solidFill>
                  <a:srgbClr val="222222"/>
                </a:solidFill>
              </a:rPr>
              <a:t>, “A fast and elitist </a:t>
            </a:r>
            <a:r>
              <a:rPr lang="en-IN" sz="1000" dirty="0" err="1">
                <a:solidFill>
                  <a:srgbClr val="222222"/>
                </a:solidFill>
              </a:rPr>
              <a:t>multiobjective</a:t>
            </a:r>
            <a:r>
              <a:rPr lang="en-IN" sz="1000" dirty="0">
                <a:solidFill>
                  <a:srgbClr val="222222"/>
                </a:solidFill>
              </a:rPr>
              <a:t> genetic algorithm: NSGA-II,” IEEE Transactions on Evolutionary Computation, vol. 6, no. 2, pp. 182–197, 2002,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10.1109/4235.996017.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[8] G. </a:t>
            </a:r>
            <a:r>
              <a:rPr lang="en-IN" sz="1000" dirty="0" err="1">
                <a:solidFill>
                  <a:srgbClr val="222222"/>
                </a:solidFill>
              </a:rPr>
              <a:t>Mavrotas</a:t>
            </a:r>
            <a:r>
              <a:rPr lang="en-IN" sz="1000" dirty="0">
                <a:solidFill>
                  <a:srgbClr val="222222"/>
                </a:solidFill>
              </a:rPr>
              <a:t>, “Effective implementation of the ε-constraint method in multi-objective mathematical programming problems,” Applied Mathematics and Computation, vol. 213, no. 2, pp. 455–465, 2009,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10.1016/j.amc.2009.03.037.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[9] G. </a:t>
            </a:r>
            <a:r>
              <a:rPr lang="en-IN" sz="1000" dirty="0" err="1">
                <a:solidFill>
                  <a:srgbClr val="222222"/>
                </a:solidFill>
              </a:rPr>
              <a:t>Mavrotas</a:t>
            </a:r>
            <a:r>
              <a:rPr lang="en-IN" sz="1000" dirty="0">
                <a:solidFill>
                  <a:srgbClr val="222222"/>
                </a:solidFill>
              </a:rPr>
              <a:t> and K. </a:t>
            </a:r>
            <a:r>
              <a:rPr lang="en-IN" sz="1000" dirty="0" err="1">
                <a:solidFill>
                  <a:srgbClr val="222222"/>
                </a:solidFill>
              </a:rPr>
              <a:t>Florios</a:t>
            </a:r>
            <a:r>
              <a:rPr lang="en-IN" sz="1000" dirty="0">
                <a:solidFill>
                  <a:srgbClr val="222222"/>
                </a:solidFill>
              </a:rPr>
              <a:t>, “An improved version of the augmented ε-constraint method (AUGMECON2) for finding the exact Pareto set in multi-objective integer programming problems,” Applied Mathematics and Computation, vol. 219, no. 18, pp. 9652–9669, 2013,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10.1016/j.amc.2013.03.002.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[10] A. Charnes and W. W. Cooper, Management Models and Industrial Applications of Linear Programming, vols. 1–2. New York: Wiley, 1961.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[11] D. Jones and M. </a:t>
            </a:r>
            <a:r>
              <a:rPr lang="en-IN" sz="1000" dirty="0" err="1">
                <a:solidFill>
                  <a:srgbClr val="222222"/>
                </a:solidFill>
              </a:rPr>
              <a:t>Tamiz</a:t>
            </a:r>
            <a:r>
              <a:rPr lang="en-IN" sz="1000" dirty="0">
                <a:solidFill>
                  <a:srgbClr val="222222"/>
                </a:solidFill>
              </a:rPr>
              <a:t>, Practical Goal Programming. New York: Springer, 2010,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10.1007/978-1-4419-5771-9.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[12] L. A. Zadeh, “Fuzzy sets,” Information and Control, vol. 8, no. 3, pp. 338–353, 1965,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10.1016/S0019-9958(65)90241-X</a:t>
            </a:r>
            <a:r>
              <a:rPr lang="en-IN" sz="1000" dirty="0"/>
              <a:t>.</a:t>
            </a:r>
          </a:p>
          <a:p>
            <a:pPr>
              <a:spcAft>
                <a:spcPts val="400"/>
              </a:spcAft>
            </a:pPr>
            <a:r>
              <a:rPr lang="en-IN" sz="1000" dirty="0"/>
              <a:t>[13] </a:t>
            </a:r>
            <a:r>
              <a:rPr lang="en-IN" sz="1000" dirty="0">
                <a:solidFill>
                  <a:srgbClr val="222222"/>
                </a:solidFill>
              </a:rPr>
              <a:t>H.-J. Zimmermann, “Fuzzy programming and linear programming with several objective functions,” Fuzzy Sets and Systems, vol. 1, no. 1, pp. 45–55, 1978,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10.1016/0165-0114(78)90031-3.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[14] M. </a:t>
            </a:r>
            <a:r>
              <a:rPr lang="en-IN" sz="1000" dirty="0" err="1">
                <a:solidFill>
                  <a:srgbClr val="222222"/>
                </a:solidFill>
              </a:rPr>
              <a:t>Inuiguchi</a:t>
            </a:r>
            <a:r>
              <a:rPr lang="en-IN" sz="1000" dirty="0">
                <a:solidFill>
                  <a:srgbClr val="222222"/>
                </a:solidFill>
              </a:rPr>
              <a:t> and J. </a:t>
            </a:r>
            <a:r>
              <a:rPr lang="en-IN" sz="1000" dirty="0" err="1">
                <a:solidFill>
                  <a:srgbClr val="222222"/>
                </a:solidFill>
              </a:rPr>
              <a:t>Ramík</a:t>
            </a:r>
            <a:r>
              <a:rPr lang="en-IN" sz="1000" dirty="0">
                <a:solidFill>
                  <a:srgbClr val="222222"/>
                </a:solidFill>
              </a:rPr>
              <a:t>, “Possibilistic linear programming: a brief review of fuzzy mathematical programming and a comparison with stochastic programming in portfolio selection problem,” Fuzzy Sets and Systems, vol. 111, no. 1, pp. 3–28, 2000,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10.1016/S0165-0114(98)00449-7.</a:t>
            </a:r>
          </a:p>
          <a:p>
            <a:pPr>
              <a:spcAft>
                <a:spcPts val="400"/>
              </a:spcAft>
            </a:pPr>
            <a:endParaRPr lang="en-IN" sz="10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endParaRPr lang="en-I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67C9-6900-C97F-B1B6-C05180E5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83A0D5-6309-A395-F9B8-888CB7BAEAB0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83F4C76-5924-0502-7D1E-6A6F72A376B0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32395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0C8DA5-7B24-A53F-C046-4C405D1E7AC7}"/>
              </a:ext>
            </a:extLst>
          </p:cNvPr>
          <p:cNvSpPr txBox="1"/>
          <p:nvPr/>
        </p:nvSpPr>
        <p:spPr>
          <a:xfrm>
            <a:off x="457200" y="811530"/>
            <a:ext cx="86868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[15] K. An and H. K. Lo, “Two-phase stochastic program for transit network design under demand uncertainty,” Transportation Research Part B, vol. 84, pp. 157–181, 2016,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10.1016/j.trb.2015.12.009.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[16] K. </a:t>
            </a:r>
            <a:r>
              <a:rPr lang="en-IN" sz="1000" dirty="0" err="1">
                <a:solidFill>
                  <a:srgbClr val="222222"/>
                </a:solidFill>
              </a:rPr>
              <a:t>Gkiotsalitis</a:t>
            </a:r>
            <a:r>
              <a:rPr lang="en-IN" sz="1000" dirty="0">
                <a:solidFill>
                  <a:srgbClr val="222222"/>
                </a:solidFill>
              </a:rPr>
              <a:t>, M. Schmidt and E. van der Hurk, “Subline frequency setting for autonomous </a:t>
            </a:r>
            <a:r>
              <a:rPr lang="en-IN" sz="1000" dirty="0" err="1">
                <a:solidFill>
                  <a:srgbClr val="222222"/>
                </a:solidFill>
              </a:rPr>
              <a:t>minibusses</a:t>
            </a:r>
            <a:r>
              <a:rPr lang="en-IN" sz="1000" dirty="0">
                <a:solidFill>
                  <a:srgbClr val="222222"/>
                </a:solidFill>
              </a:rPr>
              <a:t> under demand uncertainty,” Transportation Research Part C, vol. 135, art. 103492, 2022,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10.1016/j.trc.2021.103492.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[17] R. O. </a:t>
            </a:r>
            <a:r>
              <a:rPr lang="en-IN" sz="1000" dirty="0" err="1">
                <a:solidFill>
                  <a:srgbClr val="222222"/>
                </a:solidFill>
              </a:rPr>
              <a:t>Arbex</a:t>
            </a:r>
            <a:r>
              <a:rPr lang="en-IN" sz="1000" dirty="0">
                <a:solidFill>
                  <a:srgbClr val="222222"/>
                </a:solidFill>
              </a:rPr>
              <a:t> and C. B. da Cunha, “Efficient transit network design and frequencies setting multi-objective optimization by alternating objective genetic algorithm,” Transportation Research Part B, vol. 81, pp. 355–376, 2015,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10.1016/j.trb.2015.06.014.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[18] S. B. Jha, J. K. Jha and M. K. Tiwari, “A multi-objective meta-heuristic approach for transit network design and frequency setting problem in a bus transit system,” Computers &amp; Industrial Engineering, vol. 130, pp. 166–186, 2019,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10.1016/j.cie.2019.02.025.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[19] Z. Ahern, A. Paz and P. Corry, “Approximate multi-objective optimization for integrated bus route design and service frequency setting,” Transportation Research Part B, vol. 155, pp. 1–25, 2022,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10.1016/j.trb.2021.10.007.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[20] W. Leong, K. Goh, S. Hess and P. Murphy, “Improving bus service reliability: The Singapore experience,” Research in Transportation Economics, vol. 59, pp. 40–49, 2016,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10.1016/j.retrec.2016.07.025.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[21] Transport for London, Guidelines for Planning Bus Services. London: TfL, Aug. 2012. [Online]. Available: </a:t>
            </a:r>
            <a:r>
              <a:rPr lang="en-IN" sz="1000" dirty="0">
                <a:solidFill>
                  <a:srgbClr val="22222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https://foi.tfl.gov.uk/FOI-2321-1617/bus-service-planning-guidelines.pdf</a:t>
            </a:r>
            <a:endParaRPr lang="en-IN" sz="1000" dirty="0">
              <a:solidFill>
                <a:srgbClr val="222222"/>
              </a:solidFill>
            </a:endParaRP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[22] S. Mahesh and G. </a:t>
            </a:r>
            <a:r>
              <a:rPr lang="en-IN" sz="1000" dirty="0" err="1">
                <a:solidFill>
                  <a:srgbClr val="222222"/>
                </a:solidFill>
              </a:rPr>
              <a:t>Ramadurai</a:t>
            </a:r>
            <a:r>
              <a:rPr lang="en-IN" sz="1000" dirty="0">
                <a:solidFill>
                  <a:srgbClr val="222222"/>
                </a:solidFill>
              </a:rPr>
              <a:t>, “Analysis of driving characteristics and estimation of pollutant emissions from intra-city buses,” Transportation Research Procedia, vol. 27, pp. 1211–1218, 2017,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10.1016/j.trpro.2017.12.071.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[23] G. V. Jain, S. S. Jain and M. Parida, “Evaluation of travel speed of conventional buses and bus rapid transit service in Ahmedabad city, India using geo-informatics,” Journal of Public Transportation, vol. 24, art. 100034, 2022,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10.1016/j.jpubtr.2022.100034.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[24] R. </a:t>
            </a:r>
            <a:r>
              <a:rPr lang="en-IN" sz="1000" dirty="0" err="1">
                <a:solidFill>
                  <a:srgbClr val="222222"/>
                </a:solidFill>
              </a:rPr>
              <a:t>Fedujwar</a:t>
            </a:r>
            <a:r>
              <a:rPr lang="en-IN" sz="1000" dirty="0">
                <a:solidFill>
                  <a:srgbClr val="222222"/>
                </a:solidFill>
              </a:rPr>
              <a:t> and A. Agarwal, “A systematic review on crowding valuation in public transport,” Public Transport, vol. 16, no. 3, pp. 743–773, 2024, </a:t>
            </a:r>
            <a:r>
              <a:rPr lang="en-IN" sz="1000" dirty="0" err="1">
                <a:solidFill>
                  <a:srgbClr val="222222"/>
                </a:solidFill>
              </a:rPr>
              <a:t>doi</a:t>
            </a:r>
            <a:r>
              <a:rPr lang="en-IN" sz="1000" dirty="0">
                <a:solidFill>
                  <a:srgbClr val="222222"/>
                </a:solidFill>
              </a:rPr>
              <a:t>: 10.1007/s12469-024-00363-w.</a:t>
            </a:r>
          </a:p>
          <a:p>
            <a:pPr>
              <a:spcAft>
                <a:spcPts val="400"/>
              </a:spcAft>
            </a:pPr>
            <a:r>
              <a:rPr lang="en-IN" sz="1000" dirty="0">
                <a:solidFill>
                  <a:srgbClr val="222222"/>
                </a:solidFill>
              </a:rPr>
              <a:t>[25] Chandigarh Transport Undertaking, “Time Table of CTU Bus Services: Local and Tri-City Routes, Depot Nos. II, III and IV,” as on 25.07.2026. [Online]. Available: chdctu.gov.in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64498B-650A-6A8F-5CD9-FD15E3A93C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8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1"/>
                </a:solidFill>
              </a:rPr>
              <a:t>Questions and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Daksh Garg  ·  Piyush Aggarwal  ·  Abhay Chauhan  ·  Naman Vasudev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3DD"/>
                </a:solidFill>
              </a:rPr>
              <a:t>Guide: Dr. Sumati Mahajan, Department of Mathematics, PEC Chandigarh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TU Fleet Allocation">
  <a:themeElements>
    <a:clrScheme name="CTU Fleet Allocation">
      <a:dk1>
        <a:srgbClr val="1B1B1B"/>
      </a:dk1>
      <a:lt1>
        <a:srgbClr val="FFFFFF"/>
      </a:lt1>
      <a:dk2>
        <a:srgbClr val="14304A"/>
      </a:dk2>
      <a:lt2>
        <a:srgbClr val="EEF1F4"/>
      </a:lt2>
      <a:accent1>
        <a:srgbClr val="F2B705"/>
      </a:accent1>
      <a:accent2>
        <a:srgbClr val="B83A2E"/>
      </a:accent2>
      <a:accent3>
        <a:srgbClr val="1F6F8B"/>
      </a:accent3>
      <a:accent4>
        <a:srgbClr val="2A78D6"/>
      </a:accent4>
      <a:accent5>
        <a:srgbClr val="EB6834"/>
      </a:accent5>
      <a:accent6>
        <a:srgbClr val="1BAF7A"/>
      </a:accent6>
      <a:hlink>
        <a:srgbClr val="1F6F8B"/>
      </a:hlink>
      <a:folHlink>
        <a:srgbClr val="6250D6"/>
      </a:folHlink>
    </a:clrScheme>
    <a:fontScheme name="CTU Fleet Alloc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3734</Words>
  <Application>Microsoft Office PowerPoint</Application>
  <PresentationFormat>On-screen Show (16:9)</PresentationFormat>
  <Paragraphs>349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CTU Fleet Allocation</vt:lpstr>
      <vt:lpstr>PowerPoint Presentation</vt:lpstr>
      <vt:lpstr>Bus supply rarely matches passenger demand</vt:lpstr>
      <vt:lpstr>CTU: a fixed fleet, 68 routes, no public ridership data</vt:lpstr>
      <vt:lpstr>Frequency setting is a fleet-constrained planning step</vt:lpstr>
      <vt:lpstr>Multi-objective and uncertainty methods we build on</vt:lpstr>
      <vt:lpstr>Standards, Indian evidence and the gap</vt:lpstr>
      <vt:lpstr>Project objectives</vt:lpstr>
      <vt:lpstr>Seven-stage pipeline, fully reproducible</vt:lpstr>
      <vt:lpstr>A linear multi-objective MILP over a headway menu</vt:lpstr>
      <vt:lpstr>Fuzzy demand, priorities, Pareto check and simulation</vt:lpstr>
      <vt:lpstr>Only the one-way reading of route length fits the fleet</vt:lpstr>
      <vt:lpstr>Priorities matter once frequency limits are relaxed</vt:lpstr>
      <vt:lpstr>Exact Multi-Objective Pareto Front (2-D Trade-Offs)</vt:lpstr>
      <vt:lpstr>3-D Pareto Front vs. Goal Programming &amp; Baseline</vt:lpstr>
      <vt:lpstr>PowerPoint Presentation</vt:lpstr>
      <vt:lpstr>Honest scope: what is proven vs what is planned</vt:lpstr>
      <vt:lpstr>What remains before the results can speak</vt:lpstr>
      <vt:lpstr>Plans and target venues</vt:lpstr>
      <vt:lpstr>References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Optimization-Based Resource Allocation for Public Bus Fleet Scheduling under Demand Variability</dc:title>
  <dc:subject>PptxGenJS Presentation</dc:subject>
  <dc:creator>Daksh Garg, Piyush Aggarwal, Abhay Chauhan, Naman Vasudev</dc:creator>
  <cp:lastModifiedBy>Naman Vasudev</cp:lastModifiedBy>
  <cp:revision>6</cp:revision>
  <dcterms:created xsi:type="dcterms:W3CDTF">2026-10-15T11:21:20Z</dcterms:created>
  <dcterms:modified xsi:type="dcterms:W3CDTF">2026-10-20T16:13:01Z</dcterms:modified>
</cp:coreProperties>
</file>